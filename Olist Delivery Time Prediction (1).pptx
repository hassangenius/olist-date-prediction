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773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the team that supported Olist's earlier analysis of customer satisfaction and delivery. Today we show how Olist can promise delivery dates that are both shorter and realistic. We'll cover the business case, how the solution works, and a short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delivery date a customer sees comes from a manual formula. It plays it safe, so most orders arrive earlier than promised. That sounds harmless, but a long date at checkout can make a customer leave. Orders take 12.5 days on average, so every day we can safely remove from the promise matters. Our objective: predict delivery time for each order using only information known at checkout. We measure success by a small average error, and in the business by more completed purchases and fewer where-is-my-order contacts. [Insert Olist's own targets for the bracketed figures.]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finding: delivery time is mostly about geography. Distance and same-state shipping explain far more than package weight or size, and the hour of the order hardly matters. To build the model we combined six Olist datasets, kept delivered orders, removed records with missing or impossible values, and created 13 simple features per order. We judge the model by its average error in days: it tells us how far off a typical promise would be.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a simple baseline, Linear Regression, then tested four more advanced models. Gradient Boosting performed best: a typical miss of about 5.1 days against 5.5 for the baseline, a gain of roughly 9 hours per order. We chose it because it was the most accurate and handles the fact that distance does not affect delivery time in a straight line. Average delivery is 12.5 days, so there is still room to improve; next steps are tuning the model and adding features such as seller handling time. [If measured, add prediction speed.]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working app. The person enters the details of an order: how many items, how heavy and large the package is, how far the seller is from the customer, and when the order was placed. They click Predict, and the app returns the estimated delivery time in hours and in days. In a real checkout, these details would be filled in automatically from the cart and the customer's address, so the customer would only see the final estimate on the confirmation screen.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A1A1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A1A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A1A1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A1A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44130"/>
            <a:ext cx="10883392" cy="71874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1A1A1A"/>
                </a:solidFill>
                <a:latin typeface="Arial" pitchFamily="34" charset="0"/>
                <a:ea typeface="Arial" pitchFamily="34" charset="-122"/>
                <a:cs typeface="Arial" pitchFamily="34" charset="-120"/>
              </a:rPr>
              <a:t>Olist Delivery Time Prediction</a:t>
            </a:r>
            <a:endParaRPr lang="en-US" sz="5200" dirty="0"/>
          </a:p>
        </p:txBody>
      </p:sp>
      <p:sp>
        <p:nvSpPr>
          <p:cNvPr id="4" name="Text 2"/>
          <p:cNvSpPr/>
          <p:nvPr/>
        </p:nvSpPr>
        <p:spPr>
          <a:xfrm>
            <a:off x="812800" y="400427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A1A1A"/>
                </a:solidFill>
                <a:latin typeface="Arial" pitchFamily="34" charset="0"/>
                <a:ea typeface="Arial" pitchFamily="34" charset="-122"/>
                <a:cs typeface="Arial" pitchFamily="34" charset="-120"/>
              </a:rPr>
              <a:t>Project members: Sayed Qassim - Sayed Hashem – Hasan Alhashimi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A1A"/>
                </a:solidFill>
                <a:latin typeface="Arial" pitchFamily="34" charset="0"/>
                <a:ea typeface="Arial" pitchFamily="34" charset="-122"/>
                <a:cs typeface="Arial" pitchFamily="34" charset="-120"/>
              </a:rPr>
              <a:t>Business Case: Accurate Delivery Dates</a:t>
            </a:r>
            <a:endParaRPr lang="en-US" sz="3600" dirty="0"/>
          </a:p>
        </p:txBody>
      </p:sp>
      <p:sp>
        <p:nvSpPr>
          <p:cNvPr id="5" name="Shape 3"/>
          <p:cNvSpPr/>
          <p:nvPr/>
        </p:nvSpPr>
        <p:spPr>
          <a:xfrm>
            <a:off x="812800" y="2017317"/>
            <a:ext cx="5080000" cy="0"/>
          </a:xfrm>
          <a:prstGeom prst="line">
            <a:avLst/>
          </a:prstGeom>
          <a:noFill/>
          <a:ln w="19050">
            <a:solidFill>
              <a:srgbClr val="1A1A1A"/>
            </a:solidFill>
            <a:prstDash val="solid"/>
          </a:ln>
        </p:spPr>
        <p:txBody>
          <a:bodyPr/>
          <a:lstStyle/>
          <a:p>
            <a:endParaRPr lang="en-US"/>
          </a:p>
        </p:txBody>
      </p:sp>
      <p:sp>
        <p:nvSpPr>
          <p:cNvPr id="6" name="Text 4"/>
          <p:cNvSpPr/>
          <p:nvPr/>
        </p:nvSpPr>
        <p:spPr>
          <a:xfrm>
            <a:off x="812800" y="2179242"/>
            <a:ext cx="52324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The problem</a:t>
            </a:r>
            <a:endParaRPr lang="en-US" sz="1800" dirty="0"/>
          </a:p>
        </p:txBody>
      </p:sp>
      <p:sp>
        <p:nvSpPr>
          <p:cNvPr id="7" name="Text 5"/>
          <p:cNvSpPr/>
          <p:nvPr/>
        </p:nvSpPr>
        <p:spPr>
          <a:xfrm>
            <a:off x="896620" y="2580482"/>
            <a:ext cx="5140960" cy="1054100"/>
          </a:xfrm>
          <a:prstGeom prst="rect">
            <a:avLst/>
          </a:prstGeom>
          <a:noFill/>
          <a:ln/>
        </p:spPr>
        <p:txBody>
          <a:bodyPr wrap="square" lIns="0" tIns="0" rIns="0" bIns="0" rtlCol="0" anchor="t">
            <a:normAutofit/>
          </a:bodyPr>
          <a:lstStyle/>
          <a:p>
            <a:pPr>
              <a:lnSpc>
                <a:spcPts val="2025"/>
              </a:lnSpc>
              <a:buSzPct val="100000"/>
            </a:pPr>
            <a:r>
              <a:rPr lang="en-US" sz="1500" dirty="0">
                <a:solidFill>
                  <a:srgbClr val="1A1A1A"/>
                </a:solidFill>
                <a:latin typeface="Arial" pitchFamily="34" charset="0"/>
                <a:ea typeface="Arial" pitchFamily="34" charset="-122"/>
                <a:cs typeface="Arial" pitchFamily="34" charset="-120"/>
              </a:rPr>
              <a:t>Delivery dates shown at checkout are too cautious. Orders usually arrive early, and long estimates may push customers to abandon their purchase.</a:t>
            </a:r>
            <a:endParaRPr lang="en-US" sz="1500" dirty="0"/>
          </a:p>
          <a:p>
            <a:pPr algn="l">
              <a:lnSpc>
                <a:spcPts val="2025"/>
              </a:lnSpc>
              <a:buSzPct val="100000"/>
            </a:pPr>
            <a:endParaRPr lang="en-US" sz="1500" dirty="0"/>
          </a:p>
        </p:txBody>
      </p:sp>
      <p:sp>
        <p:nvSpPr>
          <p:cNvPr id="8" name="Shape 6"/>
          <p:cNvSpPr/>
          <p:nvPr/>
        </p:nvSpPr>
        <p:spPr>
          <a:xfrm>
            <a:off x="6299200" y="2017317"/>
            <a:ext cx="5080000" cy="0"/>
          </a:xfrm>
          <a:prstGeom prst="line">
            <a:avLst/>
          </a:prstGeom>
          <a:noFill/>
          <a:ln w="19050">
            <a:solidFill>
              <a:srgbClr val="1A1A1A"/>
            </a:solidFill>
            <a:prstDash val="solid"/>
          </a:ln>
        </p:spPr>
        <p:txBody>
          <a:bodyPr/>
          <a:lstStyle/>
          <a:p>
            <a:endParaRPr lang="en-US"/>
          </a:p>
        </p:txBody>
      </p:sp>
      <p:sp>
        <p:nvSpPr>
          <p:cNvPr id="9" name="Text 7"/>
          <p:cNvSpPr/>
          <p:nvPr/>
        </p:nvSpPr>
        <p:spPr>
          <a:xfrm>
            <a:off x="6291580" y="2179242"/>
            <a:ext cx="52324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Our solution</a:t>
            </a:r>
          </a:p>
        </p:txBody>
      </p:sp>
      <p:sp>
        <p:nvSpPr>
          <p:cNvPr id="10" name="Text 8"/>
          <p:cNvSpPr/>
          <p:nvPr/>
        </p:nvSpPr>
        <p:spPr>
          <a:xfrm>
            <a:off x="6383020" y="2580482"/>
            <a:ext cx="5140960" cy="1311275"/>
          </a:xfrm>
          <a:prstGeom prst="rect">
            <a:avLst/>
          </a:prstGeom>
          <a:noFill/>
          <a:ln/>
        </p:spPr>
        <p:txBody>
          <a:bodyPr wrap="square" lIns="0" tIns="0" rIns="0" bIns="0" rtlCol="0" anchor="t">
            <a:normAutofit/>
          </a:bodyPr>
          <a:lstStyle/>
          <a:p>
            <a:pPr>
              <a:lnSpc>
                <a:spcPts val="2025"/>
              </a:lnSpc>
              <a:buSzPct val="100000"/>
            </a:pPr>
            <a:r>
              <a:rPr lang="en-US" sz="1500" dirty="0">
                <a:solidFill>
                  <a:srgbClr val="1A1A1A"/>
                </a:solidFill>
                <a:latin typeface="Arial" pitchFamily="34" charset="0"/>
                <a:ea typeface="Arial" pitchFamily="34" charset="-122"/>
                <a:cs typeface="Arial" pitchFamily="34" charset="-120"/>
              </a:rPr>
              <a:t>A prediction tool estimates each order's delivery time from its own details: items, size, weight and distance.</a:t>
            </a:r>
            <a:endParaRPr lang="en-US" sz="1500" dirty="0"/>
          </a:p>
          <a:p>
            <a:pPr algn="l">
              <a:lnSpc>
                <a:spcPts val="2025"/>
              </a:lnSpc>
              <a:buSzPct val="100000"/>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A1A"/>
                </a:solidFill>
                <a:latin typeface="Arial" pitchFamily="34" charset="0"/>
                <a:ea typeface="Arial" pitchFamily="34" charset="-122"/>
                <a:cs typeface="Arial" pitchFamily="34" charset="-120"/>
              </a:rPr>
              <a:t>Technical: Data, Preparation and Metric</a:t>
            </a:r>
            <a:endParaRPr lang="en-US" sz="3600" dirty="0"/>
          </a:p>
        </p:txBody>
      </p:sp>
      <p:sp>
        <p:nvSpPr>
          <p:cNvPr id="3" name="Shape 1"/>
          <p:cNvSpPr/>
          <p:nvPr/>
        </p:nvSpPr>
        <p:spPr>
          <a:xfrm>
            <a:off x="812800" y="1680766"/>
            <a:ext cx="3251200" cy="0"/>
          </a:xfrm>
          <a:prstGeom prst="line">
            <a:avLst/>
          </a:prstGeom>
          <a:noFill/>
          <a:ln w="19050">
            <a:solidFill>
              <a:srgbClr val="1A1A1A"/>
            </a:solidFill>
            <a:prstDash val="solid"/>
          </a:ln>
        </p:spPr>
        <p:txBody>
          <a:bodyPr/>
          <a:lstStyle/>
          <a:p>
            <a:endParaRPr lang="en-US"/>
          </a:p>
        </p:txBody>
      </p:sp>
      <p:sp>
        <p:nvSpPr>
          <p:cNvPr id="4" name="Text 2"/>
          <p:cNvSpPr/>
          <p:nvPr/>
        </p:nvSpPr>
        <p:spPr>
          <a:xfrm>
            <a:off x="812800" y="1842691"/>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Key data insights</a:t>
            </a:r>
            <a:endParaRPr lang="en-US" sz="1800" dirty="0"/>
          </a:p>
        </p:txBody>
      </p:sp>
      <p:sp>
        <p:nvSpPr>
          <p:cNvPr id="5" name="Text 3"/>
          <p:cNvSpPr/>
          <p:nvPr/>
        </p:nvSpPr>
        <p:spPr>
          <a:xfrm>
            <a:off x="910082" y="2243931"/>
            <a:ext cx="3243834" cy="1225451"/>
          </a:xfrm>
          <a:prstGeom prst="rect">
            <a:avLst/>
          </a:prstGeom>
          <a:noFill/>
          <a:ln/>
        </p:spPr>
        <p:txBody>
          <a:bodyPr wrap="square" lIns="0" tIns="0" rIns="0" bIns="0" rtlCol="0" anchor="t">
            <a:normAutofit/>
          </a:bodyPr>
          <a:lstStyle/>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Seller-to-customer distance is the strongest driver of delivery time</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Same-state orders arrive faster</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Weight and size matter only slightly; order hour barely matters</a:t>
            </a:r>
            <a:endParaRPr lang="en-US" sz="1400" dirty="0"/>
          </a:p>
        </p:txBody>
      </p:sp>
      <p:sp>
        <p:nvSpPr>
          <p:cNvPr id="6" name="Shape 4"/>
          <p:cNvSpPr/>
          <p:nvPr/>
        </p:nvSpPr>
        <p:spPr>
          <a:xfrm>
            <a:off x="4470400" y="1680766"/>
            <a:ext cx="3251200" cy="0"/>
          </a:xfrm>
          <a:prstGeom prst="line">
            <a:avLst/>
          </a:prstGeom>
          <a:noFill/>
          <a:ln w="19050">
            <a:solidFill>
              <a:srgbClr val="1A1A1A"/>
            </a:solidFill>
            <a:prstDash val="solid"/>
          </a:ln>
        </p:spPr>
        <p:txBody>
          <a:bodyPr/>
          <a:lstStyle/>
          <a:p>
            <a:endParaRPr lang="en-US"/>
          </a:p>
        </p:txBody>
      </p:sp>
      <p:sp>
        <p:nvSpPr>
          <p:cNvPr id="7" name="Text 5"/>
          <p:cNvSpPr/>
          <p:nvPr/>
        </p:nvSpPr>
        <p:spPr>
          <a:xfrm>
            <a:off x="4470400" y="1842691"/>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Data preparation</a:t>
            </a:r>
            <a:endParaRPr lang="en-US" sz="1800" dirty="0"/>
          </a:p>
        </p:txBody>
      </p:sp>
      <p:sp>
        <p:nvSpPr>
          <p:cNvPr id="8" name="Text 6"/>
          <p:cNvSpPr/>
          <p:nvPr/>
        </p:nvSpPr>
        <p:spPr>
          <a:xfrm>
            <a:off x="4567682" y="2243931"/>
            <a:ext cx="3243834" cy="1705471"/>
          </a:xfrm>
          <a:prstGeom prst="rect">
            <a:avLst/>
          </a:prstGeom>
          <a:noFill/>
          <a:ln/>
        </p:spPr>
        <p:txBody>
          <a:bodyPr wrap="square" lIns="0" tIns="0" rIns="0" bIns="0" rtlCol="0" anchor="t">
            <a:normAutofit/>
          </a:bodyPr>
          <a:lstStyle/>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Combined 6 datasets into one view per order</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Kept about 96,000 delivered orders</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Removed missing and impossible values</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Built 13 features: distance, weight, volume, item counts, order timing</a:t>
            </a:r>
            <a:endParaRPr lang="en-US" sz="1400" dirty="0"/>
          </a:p>
        </p:txBody>
      </p:sp>
      <p:sp>
        <p:nvSpPr>
          <p:cNvPr id="9" name="Shape 7"/>
          <p:cNvSpPr/>
          <p:nvPr/>
        </p:nvSpPr>
        <p:spPr>
          <a:xfrm>
            <a:off x="8128000" y="1680766"/>
            <a:ext cx="3251200" cy="0"/>
          </a:xfrm>
          <a:prstGeom prst="line">
            <a:avLst/>
          </a:prstGeom>
          <a:noFill/>
          <a:ln w="19050">
            <a:solidFill>
              <a:srgbClr val="1A1A1A"/>
            </a:solidFill>
            <a:prstDash val="solid"/>
          </a:ln>
        </p:spPr>
        <p:txBody>
          <a:bodyPr/>
          <a:lstStyle/>
          <a:p>
            <a:endParaRPr lang="en-US"/>
          </a:p>
        </p:txBody>
      </p:sp>
      <p:sp>
        <p:nvSpPr>
          <p:cNvPr id="10" name="Text 8"/>
          <p:cNvSpPr/>
          <p:nvPr/>
        </p:nvSpPr>
        <p:spPr>
          <a:xfrm>
            <a:off x="8128000" y="1842691"/>
            <a:ext cx="33487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Metric: average error</a:t>
            </a:r>
            <a:endParaRPr lang="en-US" sz="1800" dirty="0"/>
          </a:p>
        </p:txBody>
      </p:sp>
      <p:sp>
        <p:nvSpPr>
          <p:cNvPr id="11" name="Text 9"/>
          <p:cNvSpPr/>
          <p:nvPr/>
        </p:nvSpPr>
        <p:spPr>
          <a:xfrm>
            <a:off x="8225282" y="2243931"/>
            <a:ext cx="3243834" cy="1225451"/>
          </a:xfrm>
          <a:prstGeom prst="rect">
            <a:avLst/>
          </a:prstGeom>
          <a:noFill/>
          <a:ln/>
        </p:spPr>
        <p:txBody>
          <a:bodyPr wrap="square" lIns="0" tIns="0" rIns="0" bIns="0" rtlCol="0" anchor="t">
            <a:normAutofit/>
          </a:bodyPr>
          <a:lstStyle/>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How many days our prediction misses by, on average</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Easy for executives to read</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Not dominated by a few extreme delays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A1A"/>
                </a:solidFill>
                <a:latin typeface="Arial" pitchFamily="34" charset="0"/>
                <a:ea typeface="Arial" pitchFamily="34" charset="-122"/>
                <a:cs typeface="Arial" pitchFamily="34" charset="-120"/>
              </a:rPr>
              <a:t>Technical: Model Comparison</a:t>
            </a:r>
            <a:endParaRPr lang="en-US" sz="3600" dirty="0"/>
          </a:p>
        </p:txBody>
      </p:sp>
      <p:sp>
        <p:nvSpPr>
          <p:cNvPr id="4" name="Text 2"/>
          <p:cNvSpPr/>
          <p:nvPr/>
        </p:nvSpPr>
        <p:spPr>
          <a:xfrm>
            <a:off x="812800" y="2108101"/>
            <a:ext cx="719455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A1A1A"/>
                </a:solidFill>
                <a:latin typeface="Arial" pitchFamily="34" charset="0"/>
                <a:ea typeface="Arial" pitchFamily="34" charset="-122"/>
                <a:cs typeface="Arial" pitchFamily="34" charset="-120"/>
              </a:rPr>
              <a:t>Average prediction error by model (days)</a:t>
            </a:r>
            <a:endParaRPr lang="en-US" sz="1800" dirty="0"/>
          </a:p>
        </p:txBody>
      </p:sp>
      <p:sp>
        <p:nvSpPr>
          <p:cNvPr id="5" name="Text 3"/>
          <p:cNvSpPr/>
          <p:nvPr/>
        </p:nvSpPr>
        <p:spPr>
          <a:xfrm>
            <a:off x="812800" y="2562721"/>
            <a:ext cx="19621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A1A"/>
                </a:solidFill>
                <a:latin typeface="Arial" pitchFamily="34" charset="0"/>
                <a:ea typeface="Arial" pitchFamily="34" charset="-122"/>
                <a:cs typeface="Arial" pitchFamily="34" charset="-120"/>
              </a:rPr>
              <a:t>Gradient Boosting</a:t>
            </a:r>
            <a:endParaRPr lang="en-US" sz="1400" dirty="0"/>
          </a:p>
        </p:txBody>
      </p:sp>
      <p:sp>
        <p:nvSpPr>
          <p:cNvPr id="6" name="Text 4"/>
          <p:cNvSpPr/>
          <p:nvPr/>
        </p:nvSpPr>
        <p:spPr>
          <a:xfrm>
            <a:off x="2870200" y="2509341"/>
            <a:ext cx="4229100" cy="355600"/>
          </a:xfrm>
          <a:prstGeom prst="rect">
            <a:avLst/>
          </a:prstGeom>
          <a:solidFill>
            <a:srgbClr val="C2410C"/>
          </a:solidFill>
          <a:ln/>
        </p:spPr>
        <p:txBody>
          <a:bodyPr wrap="square" lIns="127000" tIns="0" rIns="127000" bIns="0" rtlCol="0" anchor="ctr">
            <a:normAutofit/>
          </a:bodyPr>
          <a:lstStyle/>
          <a:p>
            <a:pPr marL="0" indent="0" algn="r">
              <a:lnSpc>
                <a:spcPts val="1960"/>
              </a:lnSpc>
              <a:buNone/>
            </a:pPr>
            <a:r>
              <a:rPr lang="en-US" sz="1400" b="1" dirty="0">
                <a:solidFill>
                  <a:srgbClr val="FFFFFF"/>
                </a:solidFill>
                <a:latin typeface="Arial" pitchFamily="34" charset="0"/>
                <a:ea typeface="Arial" pitchFamily="34" charset="-122"/>
                <a:cs typeface="Arial" pitchFamily="34" charset="-120"/>
              </a:rPr>
              <a:t>5.1</a:t>
            </a:r>
            <a:endParaRPr lang="en-US" sz="1400" dirty="0"/>
          </a:p>
        </p:txBody>
      </p:sp>
      <p:sp>
        <p:nvSpPr>
          <p:cNvPr id="7" name="Text 5"/>
          <p:cNvSpPr/>
          <p:nvPr/>
        </p:nvSpPr>
        <p:spPr>
          <a:xfrm>
            <a:off x="812800" y="3045321"/>
            <a:ext cx="19621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A1A"/>
                </a:solidFill>
                <a:latin typeface="Arial" pitchFamily="34" charset="0"/>
                <a:ea typeface="Arial" pitchFamily="34" charset="-122"/>
                <a:cs typeface="Arial" pitchFamily="34" charset="-120"/>
              </a:rPr>
              <a:t>Decision Tree</a:t>
            </a:r>
            <a:endParaRPr lang="en-US" sz="1400" dirty="0"/>
          </a:p>
        </p:txBody>
      </p:sp>
      <p:sp>
        <p:nvSpPr>
          <p:cNvPr id="8" name="Text 6"/>
          <p:cNvSpPr/>
          <p:nvPr/>
        </p:nvSpPr>
        <p:spPr>
          <a:xfrm>
            <a:off x="2870200" y="2991941"/>
            <a:ext cx="4318000" cy="355600"/>
          </a:xfrm>
          <a:prstGeom prst="rect">
            <a:avLst/>
          </a:prstGeom>
          <a:solidFill>
            <a:srgbClr val="D4D6DA"/>
          </a:solidFill>
          <a:ln/>
        </p:spPr>
        <p:txBody>
          <a:bodyPr wrap="square" lIns="127000" tIns="0" rIns="127000" bIns="0" rtlCol="0" anchor="ctr">
            <a:normAutofit/>
          </a:bodyPr>
          <a:lstStyle/>
          <a:p>
            <a:pPr marL="0" indent="0" algn="r">
              <a:lnSpc>
                <a:spcPts val="1960"/>
              </a:lnSpc>
              <a:buNone/>
            </a:pPr>
            <a:r>
              <a:rPr lang="en-US" sz="1400" b="1" dirty="0">
                <a:solidFill>
                  <a:srgbClr val="1A1A1A"/>
                </a:solidFill>
                <a:latin typeface="Arial" pitchFamily="34" charset="0"/>
                <a:ea typeface="Arial" pitchFamily="34" charset="-122"/>
                <a:cs typeface="Arial" pitchFamily="34" charset="-120"/>
              </a:rPr>
              <a:t>5.2</a:t>
            </a:r>
            <a:endParaRPr lang="en-US" sz="1400" dirty="0"/>
          </a:p>
        </p:txBody>
      </p:sp>
      <p:sp>
        <p:nvSpPr>
          <p:cNvPr id="9" name="Text 7"/>
          <p:cNvSpPr/>
          <p:nvPr/>
        </p:nvSpPr>
        <p:spPr>
          <a:xfrm>
            <a:off x="812800" y="3527921"/>
            <a:ext cx="19621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A1A"/>
                </a:solidFill>
                <a:latin typeface="Arial" pitchFamily="34" charset="0"/>
                <a:ea typeface="Arial" pitchFamily="34" charset="-122"/>
                <a:cs typeface="Arial" pitchFamily="34" charset="-120"/>
              </a:rPr>
              <a:t>Random Forest</a:t>
            </a:r>
            <a:endParaRPr lang="en-US" sz="1400" dirty="0"/>
          </a:p>
        </p:txBody>
      </p:sp>
      <p:sp>
        <p:nvSpPr>
          <p:cNvPr id="10" name="Text 8"/>
          <p:cNvSpPr/>
          <p:nvPr/>
        </p:nvSpPr>
        <p:spPr>
          <a:xfrm>
            <a:off x="2870200" y="3474541"/>
            <a:ext cx="4457700" cy="355600"/>
          </a:xfrm>
          <a:prstGeom prst="rect">
            <a:avLst/>
          </a:prstGeom>
          <a:solidFill>
            <a:srgbClr val="D4D6DA"/>
          </a:solidFill>
          <a:ln/>
        </p:spPr>
        <p:txBody>
          <a:bodyPr wrap="square" lIns="127000" tIns="0" rIns="127000" bIns="0" rtlCol="0" anchor="ctr">
            <a:normAutofit/>
          </a:bodyPr>
          <a:lstStyle/>
          <a:p>
            <a:pPr marL="0" indent="0" algn="r">
              <a:lnSpc>
                <a:spcPts val="1960"/>
              </a:lnSpc>
              <a:buNone/>
            </a:pPr>
            <a:r>
              <a:rPr lang="en-US" sz="1400" b="1" dirty="0">
                <a:solidFill>
                  <a:srgbClr val="1A1A1A"/>
                </a:solidFill>
                <a:latin typeface="Arial" pitchFamily="34" charset="0"/>
                <a:ea typeface="Arial" pitchFamily="34" charset="-122"/>
                <a:cs typeface="Arial" pitchFamily="34" charset="-120"/>
              </a:rPr>
              <a:t>5.4</a:t>
            </a:r>
            <a:endParaRPr lang="en-US" sz="1400" dirty="0"/>
          </a:p>
        </p:txBody>
      </p:sp>
      <p:sp>
        <p:nvSpPr>
          <p:cNvPr id="11" name="Text 9"/>
          <p:cNvSpPr/>
          <p:nvPr/>
        </p:nvSpPr>
        <p:spPr>
          <a:xfrm>
            <a:off x="812800" y="3957141"/>
            <a:ext cx="196215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A1A"/>
                </a:solidFill>
                <a:latin typeface="Arial" pitchFamily="34" charset="0"/>
                <a:ea typeface="Arial" pitchFamily="34" charset="-122"/>
                <a:cs typeface="Arial" pitchFamily="34" charset="-120"/>
              </a:rPr>
              <a:t>Linear Regression (baseline)</a:t>
            </a:r>
            <a:endParaRPr lang="en-US" sz="1400" dirty="0"/>
          </a:p>
        </p:txBody>
      </p:sp>
      <p:sp>
        <p:nvSpPr>
          <p:cNvPr id="12" name="Text 10"/>
          <p:cNvSpPr/>
          <p:nvPr/>
        </p:nvSpPr>
        <p:spPr>
          <a:xfrm>
            <a:off x="2870200" y="4028182"/>
            <a:ext cx="4527550" cy="355600"/>
          </a:xfrm>
          <a:prstGeom prst="rect">
            <a:avLst/>
          </a:prstGeom>
          <a:solidFill>
            <a:srgbClr val="D4D6DA"/>
          </a:solidFill>
          <a:ln/>
        </p:spPr>
        <p:txBody>
          <a:bodyPr wrap="square" lIns="127000" tIns="0" rIns="127000" bIns="0" rtlCol="0" anchor="ctr">
            <a:normAutofit/>
          </a:bodyPr>
          <a:lstStyle/>
          <a:p>
            <a:pPr marL="0" indent="0" algn="r">
              <a:lnSpc>
                <a:spcPts val="1960"/>
              </a:lnSpc>
              <a:buNone/>
            </a:pPr>
            <a:r>
              <a:rPr lang="en-US" sz="1400" b="1" dirty="0">
                <a:solidFill>
                  <a:srgbClr val="1A1A1A"/>
                </a:solidFill>
                <a:latin typeface="Arial" pitchFamily="34" charset="0"/>
                <a:ea typeface="Arial" pitchFamily="34" charset="-122"/>
                <a:cs typeface="Arial" pitchFamily="34" charset="-120"/>
              </a:rPr>
              <a:t>5.5</a:t>
            </a:r>
            <a:endParaRPr lang="en-US" sz="1400" dirty="0"/>
          </a:p>
        </p:txBody>
      </p:sp>
      <p:sp>
        <p:nvSpPr>
          <p:cNvPr id="13" name="Text 11"/>
          <p:cNvSpPr/>
          <p:nvPr/>
        </p:nvSpPr>
        <p:spPr>
          <a:xfrm>
            <a:off x="812800" y="4635202"/>
            <a:ext cx="19621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A1A1A"/>
                </a:solidFill>
                <a:latin typeface="Arial" pitchFamily="34" charset="0"/>
                <a:ea typeface="Arial" pitchFamily="34" charset="-122"/>
                <a:cs typeface="Arial" pitchFamily="34" charset="-120"/>
              </a:rPr>
              <a:t>K-Nearest Neighbors</a:t>
            </a:r>
            <a:endParaRPr lang="en-US" sz="1400" dirty="0"/>
          </a:p>
        </p:txBody>
      </p:sp>
      <p:sp>
        <p:nvSpPr>
          <p:cNvPr id="14" name="Text 12"/>
          <p:cNvSpPr/>
          <p:nvPr/>
        </p:nvSpPr>
        <p:spPr>
          <a:xfrm>
            <a:off x="2870200" y="4581823"/>
            <a:ext cx="4737100" cy="355600"/>
          </a:xfrm>
          <a:prstGeom prst="rect">
            <a:avLst/>
          </a:prstGeom>
          <a:solidFill>
            <a:srgbClr val="D4D6DA"/>
          </a:solidFill>
          <a:ln/>
        </p:spPr>
        <p:txBody>
          <a:bodyPr wrap="square" lIns="127000" tIns="0" rIns="127000" bIns="0" rtlCol="0" anchor="ctr">
            <a:normAutofit/>
          </a:bodyPr>
          <a:lstStyle/>
          <a:p>
            <a:pPr marL="0" indent="0" algn="r">
              <a:lnSpc>
                <a:spcPts val="1960"/>
              </a:lnSpc>
              <a:buNone/>
            </a:pPr>
            <a:r>
              <a:rPr lang="en-US" sz="1400" b="1" dirty="0">
                <a:solidFill>
                  <a:srgbClr val="1A1A1A"/>
                </a:solidFill>
                <a:latin typeface="Arial" pitchFamily="34" charset="0"/>
                <a:ea typeface="Arial" pitchFamily="34" charset="-122"/>
                <a:cs typeface="Arial" pitchFamily="34" charset="-120"/>
              </a:rPr>
              <a:t>5.7</a:t>
            </a:r>
            <a:endParaRPr lang="en-US" sz="1400" dirty="0"/>
          </a:p>
        </p:txBody>
      </p:sp>
      <p:sp>
        <p:nvSpPr>
          <p:cNvPr id="16" name="Shape 14"/>
          <p:cNvSpPr/>
          <p:nvPr/>
        </p:nvSpPr>
        <p:spPr>
          <a:xfrm>
            <a:off x="8305800" y="2117626"/>
            <a:ext cx="3073400" cy="0"/>
          </a:xfrm>
          <a:prstGeom prst="line">
            <a:avLst/>
          </a:prstGeom>
          <a:noFill/>
          <a:ln w="19050">
            <a:solidFill>
              <a:srgbClr val="1A1A1A"/>
            </a:solidFill>
            <a:prstDash val="solid"/>
          </a:ln>
        </p:spPr>
        <p:txBody>
          <a:bodyPr/>
          <a:lstStyle/>
          <a:p>
            <a:endParaRPr lang="en-US"/>
          </a:p>
        </p:txBody>
      </p:sp>
      <p:sp>
        <p:nvSpPr>
          <p:cNvPr id="17" name="Text 15"/>
          <p:cNvSpPr/>
          <p:nvPr/>
        </p:nvSpPr>
        <p:spPr>
          <a:xfrm>
            <a:off x="8305800" y="2279551"/>
            <a:ext cx="316560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410C"/>
                </a:solidFill>
                <a:latin typeface="Arial" pitchFamily="34" charset="0"/>
                <a:ea typeface="Arial" pitchFamily="34" charset="-122"/>
                <a:cs typeface="Arial" pitchFamily="34" charset="-120"/>
              </a:rPr>
              <a:t>Why Gradient Boosting</a:t>
            </a:r>
            <a:endParaRPr lang="en-US" sz="1800" dirty="0"/>
          </a:p>
        </p:txBody>
      </p:sp>
      <p:sp>
        <p:nvSpPr>
          <p:cNvPr id="18" name="Text 16"/>
          <p:cNvSpPr/>
          <p:nvPr/>
        </p:nvSpPr>
        <p:spPr>
          <a:xfrm>
            <a:off x="8403082" y="2680791"/>
            <a:ext cx="3060700" cy="1225451"/>
          </a:xfrm>
          <a:prstGeom prst="rect">
            <a:avLst/>
          </a:prstGeom>
          <a:noFill/>
          <a:ln/>
        </p:spPr>
        <p:txBody>
          <a:bodyPr wrap="square" lIns="0" tIns="0" rIns="0" bIns="0" rtlCol="0" anchor="t">
            <a:normAutofit/>
          </a:bodyPr>
          <a:lstStyle/>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Lowest error of 5 models tested</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About 0.4 days (7%) better than the baseline</a:t>
            </a:r>
            <a:endParaRPr lang="en-US" sz="1400" dirty="0"/>
          </a:p>
          <a:p>
            <a:pPr marL="156718" indent="-156718" algn="l">
              <a:lnSpc>
                <a:spcPts val="1890"/>
              </a:lnSpc>
              <a:buSzPct val="100000"/>
              <a:buChar char="•"/>
            </a:pPr>
            <a:r>
              <a:rPr lang="en-US" sz="1400" dirty="0">
                <a:solidFill>
                  <a:srgbClr val="1A1A1A"/>
                </a:solidFill>
                <a:latin typeface="Arial" pitchFamily="34" charset="0"/>
                <a:ea typeface="Arial" pitchFamily="34" charset="-122"/>
                <a:cs typeface="Arial" pitchFamily="34" charset="-120"/>
              </a:rPr>
              <a:t>Captures non-linear effects such as distance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A1A"/>
                </a:solidFill>
                <a:latin typeface="Arial" pitchFamily="34" charset="0"/>
                <a:ea typeface="Arial" pitchFamily="34" charset="-122"/>
                <a:cs typeface="Arial" pitchFamily="34" charset="-120"/>
              </a:rPr>
              <a:t>Demo: Live Delivery Time Predictor</a:t>
            </a:r>
            <a:endParaRPr lang="en-US" sz="3600" dirty="0"/>
          </a:p>
        </p:txBody>
      </p:sp>
      <p:sp>
        <p:nvSpPr>
          <p:cNvPr id="3" name="Shape 1"/>
          <p:cNvSpPr/>
          <p:nvPr/>
        </p:nvSpPr>
        <p:spPr>
          <a:xfrm>
            <a:off x="812800" y="1731566"/>
            <a:ext cx="2413000" cy="0"/>
          </a:xfrm>
          <a:prstGeom prst="line">
            <a:avLst/>
          </a:prstGeom>
          <a:noFill/>
          <a:ln w="19050">
            <a:solidFill>
              <a:srgbClr val="1A1A1A"/>
            </a:solidFill>
            <a:prstDash val="solid"/>
          </a:ln>
        </p:spPr>
        <p:txBody>
          <a:bodyPr/>
          <a:lstStyle/>
          <a:p>
            <a:endParaRPr lang="en-US"/>
          </a:p>
        </p:txBody>
      </p:sp>
      <p:sp>
        <p:nvSpPr>
          <p:cNvPr id="4" name="Text 2"/>
          <p:cNvSpPr/>
          <p:nvPr/>
        </p:nvSpPr>
        <p:spPr>
          <a:xfrm>
            <a:off x="812800" y="1893491"/>
            <a:ext cx="248539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2410C"/>
                </a:solidFill>
                <a:latin typeface="Arial" pitchFamily="34" charset="0"/>
                <a:ea typeface="Arial" pitchFamily="34" charset="-122"/>
                <a:cs typeface="Arial" pitchFamily="34" charset="-120"/>
              </a:rPr>
              <a:t>1</a:t>
            </a:r>
            <a:endParaRPr lang="en-US" sz="3600" dirty="0"/>
          </a:p>
        </p:txBody>
      </p:sp>
      <p:sp>
        <p:nvSpPr>
          <p:cNvPr id="5" name="Text 3"/>
          <p:cNvSpPr/>
          <p:nvPr/>
        </p:nvSpPr>
        <p:spPr>
          <a:xfrm>
            <a:off x="812800" y="2452291"/>
            <a:ext cx="248539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A1A1A"/>
                </a:solidFill>
                <a:latin typeface="Arial" pitchFamily="34" charset="0"/>
                <a:ea typeface="Arial" pitchFamily="34" charset="-122"/>
                <a:cs typeface="Arial" pitchFamily="34" charset="-120"/>
              </a:rPr>
              <a:t>Describe the order</a:t>
            </a:r>
            <a:endParaRPr lang="en-US" sz="1800" dirty="0"/>
          </a:p>
        </p:txBody>
      </p:sp>
      <p:sp>
        <p:nvSpPr>
          <p:cNvPr id="6" name="Text 4"/>
          <p:cNvSpPr/>
          <p:nvPr/>
        </p:nvSpPr>
        <p:spPr>
          <a:xfrm>
            <a:off x="812800" y="2828131"/>
            <a:ext cx="248539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Number of items, products and sellers, plus total weight and volume</a:t>
            </a:r>
            <a:endParaRPr lang="en-US" sz="1400" dirty="0"/>
          </a:p>
        </p:txBody>
      </p:sp>
      <p:sp>
        <p:nvSpPr>
          <p:cNvPr id="7" name="Shape 5"/>
          <p:cNvSpPr/>
          <p:nvPr/>
        </p:nvSpPr>
        <p:spPr>
          <a:xfrm>
            <a:off x="3530600" y="1731566"/>
            <a:ext cx="2413000" cy="0"/>
          </a:xfrm>
          <a:prstGeom prst="line">
            <a:avLst/>
          </a:prstGeom>
          <a:noFill/>
          <a:ln w="19050">
            <a:solidFill>
              <a:srgbClr val="1A1A1A"/>
            </a:solidFill>
            <a:prstDash val="solid"/>
          </a:ln>
        </p:spPr>
        <p:txBody>
          <a:bodyPr/>
          <a:lstStyle/>
          <a:p>
            <a:endParaRPr lang="en-US"/>
          </a:p>
        </p:txBody>
      </p:sp>
      <p:sp>
        <p:nvSpPr>
          <p:cNvPr id="8" name="Text 6"/>
          <p:cNvSpPr/>
          <p:nvPr/>
        </p:nvSpPr>
        <p:spPr>
          <a:xfrm>
            <a:off x="3530600" y="1893491"/>
            <a:ext cx="248539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2410C"/>
                </a:solidFill>
                <a:latin typeface="Arial" pitchFamily="34" charset="0"/>
                <a:ea typeface="Arial" pitchFamily="34" charset="-122"/>
                <a:cs typeface="Arial" pitchFamily="34" charset="-120"/>
              </a:rPr>
              <a:t>2</a:t>
            </a:r>
            <a:endParaRPr lang="en-US" sz="3600" dirty="0"/>
          </a:p>
        </p:txBody>
      </p:sp>
      <p:sp>
        <p:nvSpPr>
          <p:cNvPr id="9" name="Text 7"/>
          <p:cNvSpPr/>
          <p:nvPr/>
        </p:nvSpPr>
        <p:spPr>
          <a:xfrm>
            <a:off x="3530600" y="2452291"/>
            <a:ext cx="248539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A1A1A"/>
                </a:solidFill>
                <a:latin typeface="Arial" pitchFamily="34" charset="0"/>
                <a:ea typeface="Arial" pitchFamily="34" charset="-122"/>
                <a:cs typeface="Arial" pitchFamily="34" charset="-120"/>
              </a:rPr>
              <a:t>Set shipping details</a:t>
            </a:r>
            <a:endParaRPr lang="en-US" sz="1800" dirty="0"/>
          </a:p>
        </p:txBody>
      </p:sp>
      <p:sp>
        <p:nvSpPr>
          <p:cNvPr id="10" name="Text 8"/>
          <p:cNvSpPr/>
          <p:nvPr/>
        </p:nvSpPr>
        <p:spPr>
          <a:xfrm>
            <a:off x="3530600" y="2828131"/>
            <a:ext cx="248539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Seller-to-customer distance and whether both are in the same state</a:t>
            </a:r>
            <a:endParaRPr lang="en-US" sz="1400" dirty="0"/>
          </a:p>
        </p:txBody>
      </p:sp>
      <p:sp>
        <p:nvSpPr>
          <p:cNvPr id="11" name="Shape 9"/>
          <p:cNvSpPr/>
          <p:nvPr/>
        </p:nvSpPr>
        <p:spPr>
          <a:xfrm>
            <a:off x="6248400" y="1731566"/>
            <a:ext cx="2413000" cy="0"/>
          </a:xfrm>
          <a:prstGeom prst="line">
            <a:avLst/>
          </a:prstGeom>
          <a:noFill/>
          <a:ln w="19050">
            <a:solidFill>
              <a:srgbClr val="1A1A1A"/>
            </a:solidFill>
            <a:prstDash val="solid"/>
          </a:ln>
        </p:spPr>
        <p:txBody>
          <a:bodyPr/>
          <a:lstStyle/>
          <a:p>
            <a:endParaRPr lang="en-US"/>
          </a:p>
        </p:txBody>
      </p:sp>
      <p:sp>
        <p:nvSpPr>
          <p:cNvPr id="12" name="Text 10"/>
          <p:cNvSpPr/>
          <p:nvPr/>
        </p:nvSpPr>
        <p:spPr>
          <a:xfrm>
            <a:off x="6248400" y="1893491"/>
            <a:ext cx="248539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2410C"/>
                </a:solidFill>
                <a:latin typeface="Arial" pitchFamily="34" charset="0"/>
                <a:ea typeface="Arial" pitchFamily="34" charset="-122"/>
                <a:cs typeface="Arial" pitchFamily="34" charset="-120"/>
              </a:rPr>
              <a:t>3</a:t>
            </a:r>
            <a:endParaRPr lang="en-US" sz="3600" dirty="0"/>
          </a:p>
        </p:txBody>
      </p:sp>
      <p:sp>
        <p:nvSpPr>
          <p:cNvPr id="13" name="Text 11"/>
          <p:cNvSpPr/>
          <p:nvPr/>
        </p:nvSpPr>
        <p:spPr>
          <a:xfrm>
            <a:off x="6248400" y="2452291"/>
            <a:ext cx="248539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A1A1A"/>
                </a:solidFill>
                <a:latin typeface="Arial" pitchFamily="34" charset="0"/>
                <a:ea typeface="Arial" pitchFamily="34" charset="-122"/>
                <a:cs typeface="Arial" pitchFamily="34" charset="-120"/>
              </a:rPr>
              <a:t>Set order timing</a:t>
            </a:r>
            <a:endParaRPr lang="en-US" sz="1800" dirty="0"/>
          </a:p>
        </p:txBody>
      </p:sp>
      <p:sp>
        <p:nvSpPr>
          <p:cNvPr id="14" name="Text 12"/>
          <p:cNvSpPr/>
          <p:nvPr/>
        </p:nvSpPr>
        <p:spPr>
          <a:xfrm>
            <a:off x="6248400" y="2828131"/>
            <a:ext cx="248539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Hour, day of the week and month of the order</a:t>
            </a:r>
            <a:endParaRPr lang="en-US" sz="1400" dirty="0"/>
          </a:p>
        </p:txBody>
      </p:sp>
      <p:sp>
        <p:nvSpPr>
          <p:cNvPr id="15" name="Shape 13"/>
          <p:cNvSpPr/>
          <p:nvPr/>
        </p:nvSpPr>
        <p:spPr>
          <a:xfrm>
            <a:off x="8966200" y="1731566"/>
            <a:ext cx="2413000" cy="0"/>
          </a:xfrm>
          <a:prstGeom prst="line">
            <a:avLst/>
          </a:prstGeom>
          <a:noFill/>
          <a:ln w="19050">
            <a:solidFill>
              <a:srgbClr val="1A1A1A"/>
            </a:solidFill>
            <a:prstDash val="solid"/>
          </a:ln>
        </p:spPr>
        <p:txBody>
          <a:bodyPr/>
          <a:lstStyle/>
          <a:p>
            <a:endParaRPr lang="en-US"/>
          </a:p>
        </p:txBody>
      </p:sp>
      <p:sp>
        <p:nvSpPr>
          <p:cNvPr id="16" name="Text 14"/>
          <p:cNvSpPr/>
          <p:nvPr/>
        </p:nvSpPr>
        <p:spPr>
          <a:xfrm>
            <a:off x="8966200" y="1893491"/>
            <a:ext cx="248539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2410C"/>
                </a:solidFill>
                <a:latin typeface="Arial" pitchFamily="34" charset="0"/>
                <a:ea typeface="Arial" pitchFamily="34" charset="-122"/>
                <a:cs typeface="Arial" pitchFamily="34" charset="-120"/>
              </a:rPr>
              <a:t>4</a:t>
            </a:r>
            <a:endParaRPr lang="en-US" sz="3600" dirty="0"/>
          </a:p>
        </p:txBody>
      </p:sp>
      <p:sp>
        <p:nvSpPr>
          <p:cNvPr id="17" name="Text 15"/>
          <p:cNvSpPr/>
          <p:nvPr/>
        </p:nvSpPr>
        <p:spPr>
          <a:xfrm>
            <a:off x="8966200" y="2452291"/>
            <a:ext cx="248539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A1A1A"/>
                </a:solidFill>
                <a:latin typeface="Arial" pitchFamily="34" charset="0"/>
                <a:ea typeface="Arial" pitchFamily="34" charset="-122"/>
                <a:cs typeface="Arial" pitchFamily="34" charset="-120"/>
              </a:rPr>
              <a:t>Click Predict</a:t>
            </a:r>
            <a:endParaRPr lang="en-US" sz="1800" dirty="0"/>
          </a:p>
        </p:txBody>
      </p:sp>
      <p:sp>
        <p:nvSpPr>
          <p:cNvPr id="18" name="Text 16"/>
          <p:cNvSpPr/>
          <p:nvPr/>
        </p:nvSpPr>
        <p:spPr>
          <a:xfrm>
            <a:off x="8966200" y="2828131"/>
            <a:ext cx="248539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The app shows the estimated delivery time in hours and days</a:t>
            </a:r>
            <a:endParaRPr lang="en-US" sz="1400" dirty="0"/>
          </a:p>
        </p:txBody>
      </p:sp>
    </p:spTree>
  </p:cSld>
  <p:clrMapOvr>
    <a:masterClrMapping/>
  </p:clrMapOvr>
</p:sld>
</file>

<file path=ppt/theme/theme1.xml><?xml version="1.0" encoding="utf-8"?>
<a:theme xmlns:a="http://schemas.openxmlformats.org/drawingml/2006/main" name="Olist Delivery Time Prediction">
  <a:themeElements>
    <a:clrScheme name="Olist Delivery Time Prediction">
      <a:dk1>
        <a:srgbClr val="1A1A1A"/>
      </a:dk1>
      <a:lt1>
        <a:srgbClr val="FAFAF7"/>
      </a:lt1>
      <a:dk2>
        <a:srgbClr val="525251"/>
      </a:dk2>
      <a:lt2>
        <a:srgbClr val="E4E4E1"/>
      </a:lt2>
      <a:accent1>
        <a:srgbClr val="C2410C"/>
      </a:accent1>
      <a:accent2>
        <a:srgbClr val="D4D6DA"/>
      </a:accent2>
      <a:accent3>
        <a:srgbClr val="555555"/>
      </a:accent3>
      <a:accent4>
        <a:srgbClr val="9AA0A6"/>
      </a:accent4>
      <a:accent5>
        <a:srgbClr val="747472"/>
      </a:accent5>
      <a:accent6>
        <a:srgbClr val="959594"/>
      </a:accent6>
      <a:hlink>
        <a:srgbClr val="0563C1"/>
      </a:hlink>
      <a:folHlink>
        <a:srgbClr val="954F72"/>
      </a:folHlink>
    </a:clrScheme>
    <a:fontScheme name="Olist Delivery Time Predi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737</Words>
  <Application>Microsoft Office PowerPoint</Application>
  <PresentationFormat>Widescreen</PresentationFormat>
  <Paragraphs>60</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Olist Delivery Time Prediction</vt:lpstr>
      <vt:lpstr>Olist Delivery Time Prediction</vt:lpstr>
      <vt:lpstr>Business Case: Accurate Delivery Dates</vt:lpstr>
      <vt:lpstr>Technical: Data, Preparation and Metric</vt:lpstr>
      <vt:lpstr>Technical: Model Comparison</vt:lpstr>
      <vt:lpstr>Demo: Live Delivery Time Predictor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Delivery Time Prediction</dc:title>
  <dc:subject/>
  <dc:creator/>
  <cp:lastModifiedBy>Sayed Basem Mohamed Jaafar Abdulla Alhusaini</cp:lastModifiedBy>
  <cp:revision>2</cp:revision>
  <dcterms:created xsi:type="dcterms:W3CDTF">2026-10-17T22:08:25Z</dcterms:created>
  <dcterms:modified xsi:type="dcterms:W3CDTF">2026-10-17T22:14:39Z</dcterms:modified>
</cp:coreProperties>
</file>